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yne"/>
      <p:regular r:id="rId17"/>
    </p:embeddedFont>
    <p:embeddedFont>
      <p:font typeface="Syne"/>
      <p:regular r:id="rId18"/>
    </p:embeddedFont>
    <p:embeddedFont>
      <p:font typeface="Arimo"/>
      <p:regular r:id="rId19"/>
    </p:embeddedFont>
    <p:embeddedFont>
      <p:font typeface="Arimo"/>
      <p:regular r:id="rId20"/>
    </p:embeddedFont>
    <p:embeddedFont>
      <p:font typeface="Arimo"/>
      <p:regular r:id="rId21"/>
    </p:embeddedFont>
    <p:embeddedFont>
      <p:font typeface="Arim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96346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Climate Risk Intelligence Platform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730466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Agent-Based Cascade Simulation for Portfolio Risk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4382691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Describe any climate event in plain English — the platform simulates how damage cascades through company dependencies and your portfolio.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837724" y="5800963"/>
            <a:ext cx="4128373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8061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8933" y="5880378"/>
            <a:ext cx="382595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POWERED BY MIROFISH ARCHITECTURE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85755" y="5800963"/>
            <a:ext cx="1451372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8061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36964" y="5880378"/>
            <a:ext cx="114895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GRAPH RAG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56784" y="5800963"/>
            <a:ext cx="1504712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8061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07994" y="5880378"/>
            <a:ext cx="120229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LLM AGENTS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9978" y="890230"/>
            <a:ext cx="1752124" cy="409099"/>
          </a:xfrm>
          <a:prstGeom prst="roundRect">
            <a:avLst>
              <a:gd name="adj" fmla="val 6537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913686" y="957024"/>
            <a:ext cx="1484709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9978" y="1382316"/>
            <a:ext cx="13070443" cy="1310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Climate Events Create Hidden Financial Risks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9978" y="3004423"/>
            <a:ext cx="13070443" cy="688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single hurricane triggers chain reactions through supply chains, insurance networks, and infrastructure — far beyond the obvious damage.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79978" y="3926205"/>
            <a:ext cx="4218503" cy="1930241"/>
          </a:xfrm>
          <a:prstGeom prst="roundRect">
            <a:avLst>
              <a:gd name="adj" fmla="val 1732"/>
            </a:avLst>
          </a:prstGeom>
          <a:solidFill>
            <a:srgbClr val="2B2952"/>
          </a:solidFill>
          <a:ln/>
        </p:spPr>
      </p:sp>
      <p:sp>
        <p:nvSpPr>
          <p:cNvPr id="7" name="Text 5"/>
          <p:cNvSpPr/>
          <p:nvPr/>
        </p:nvSpPr>
        <p:spPr>
          <a:xfrm>
            <a:off x="1002744" y="4148971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Direct Damage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002744" y="4601051"/>
            <a:ext cx="3772972" cy="103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hurricane hits Texas, damaging oil refineries, power grids, and coastal real estate. The obvious loss.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05889" y="3926205"/>
            <a:ext cx="4218503" cy="1930241"/>
          </a:xfrm>
          <a:prstGeom prst="roundRect">
            <a:avLst>
              <a:gd name="adj" fmla="val 1732"/>
            </a:avLst>
          </a:prstGeom>
          <a:solidFill>
            <a:srgbClr val="2B2952"/>
          </a:solidFill>
          <a:ln/>
        </p:spPr>
      </p:sp>
      <p:sp>
        <p:nvSpPr>
          <p:cNvPr id="10" name="Text 8"/>
          <p:cNvSpPr/>
          <p:nvPr/>
        </p:nvSpPr>
        <p:spPr>
          <a:xfrm>
            <a:off x="5428655" y="4148971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Hidden Cascades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5428655" y="4601051"/>
            <a:ext cx="3772972" cy="103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When the grid fails, factories shut down. Refineries close, fuel prices spike nationwide.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31799" y="3926205"/>
            <a:ext cx="4218623" cy="1930241"/>
          </a:xfrm>
          <a:prstGeom prst="roundRect">
            <a:avLst>
              <a:gd name="adj" fmla="val 1732"/>
            </a:avLst>
          </a:prstGeom>
          <a:solidFill>
            <a:srgbClr val="2B2952"/>
          </a:solidFill>
          <a:ln/>
        </p:spPr>
      </p:sp>
      <p:sp>
        <p:nvSpPr>
          <p:cNvPr id="13" name="Text 11"/>
          <p:cNvSpPr/>
          <p:nvPr/>
        </p:nvSpPr>
        <p:spPr>
          <a:xfrm>
            <a:off x="9854565" y="4148971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Portfolio Impact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854565" y="4601051"/>
            <a:ext cx="3773091" cy="103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Seemingly unrelated companies suffer because they share the same damaged infrastructure.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79978" y="6089809"/>
            <a:ext cx="13070443" cy="1249442"/>
          </a:xfrm>
          <a:prstGeom prst="roundRect">
            <a:avLst>
              <a:gd name="adj" fmla="val 2676"/>
            </a:avLst>
          </a:prstGeom>
          <a:solidFill>
            <a:srgbClr val="0F004D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44" y="6416993"/>
            <a:ext cx="278487" cy="22276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03998" y="6352818"/>
            <a:ext cx="12123658" cy="688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Insight: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Traditional models assess companies in isolation. In reality, a single climate event can amplify losses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2–5×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through hidden dependency chains.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816" y="676751"/>
            <a:ext cx="1491496" cy="377666"/>
          </a:xfrm>
          <a:prstGeom prst="roundRect">
            <a:avLst>
              <a:gd name="adj" fmla="val 6666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941665" y="739616"/>
            <a:ext cx="123979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5816" y="1127879"/>
            <a:ext cx="12998768" cy="1233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Describe an Event. See the Cascade. Protect Your Portfolio.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15816" y="2637592"/>
            <a:ext cx="12998768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Type any climate scenario in plain English — AI agents simulate how damage ripples through the economy and your holdings.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5816" y="3159323"/>
            <a:ext cx="419576" cy="4195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816" y="3808690"/>
            <a:ext cx="2468285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Agent Network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15816" y="4227433"/>
            <a:ext cx="417968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Interactive graph of companies and their dependencies, sized by loss severity.</a:t>
            </a:r>
            <a:endParaRPr lang="en-US" sz="1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5296" y="3159323"/>
            <a:ext cx="419576" cy="4195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5296" y="3808690"/>
            <a:ext cx="2468285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Cascade Timeline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5225296" y="4227433"/>
            <a:ext cx="4179689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Round-by-round view of how damage spreads from direct impact through the network.</a:t>
            </a:r>
            <a:endParaRPr lang="en-US" sz="1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4776" y="3159323"/>
            <a:ext cx="419576" cy="4195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4776" y="3808690"/>
            <a:ext cx="2468285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Narrative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9634776" y="4227433"/>
            <a:ext cx="4179808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Executive briefing explaining what happened, why, and how losses amplified.</a:t>
            </a:r>
            <a:endParaRPr lang="en-US" sz="16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5816" y="5539859"/>
            <a:ext cx="419576" cy="4195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5816" y="6189226"/>
            <a:ext cx="2468285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Loss Analysis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815816" y="6607969"/>
            <a:ext cx="417968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Sortable table of every affected company, loss figures, and amplification metrics.</a:t>
            </a:r>
            <a:endParaRPr lang="en-US" sz="16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5296" y="5539859"/>
            <a:ext cx="419576" cy="4195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25296" y="6189226"/>
            <a:ext cx="2626638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Recommendations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5225296" y="6607969"/>
            <a:ext cx="4179689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Actionable steps: rebalance, hedge, diversify, or exit positions based on simulation results.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6763" y="983337"/>
            <a:ext cx="1442085" cy="348258"/>
          </a:xfrm>
          <a:prstGeom prst="roundRect">
            <a:avLst>
              <a:gd name="adj" fmla="val 6794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884992" y="1042392"/>
            <a:ext cx="120562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6763" y="1396484"/>
            <a:ext cx="12209502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From Plain English to Portfolio Insights in 6 Steps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766763" y="2220039"/>
            <a:ext cx="19716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66763" y="2532340"/>
            <a:ext cx="6467237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7" name="Text 5"/>
          <p:cNvSpPr/>
          <p:nvPr/>
        </p:nvSpPr>
        <p:spPr>
          <a:xfrm>
            <a:off x="766763" y="2676644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Event Parsing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6763" y="3063954"/>
            <a:ext cx="6467237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identifies disaster type, affected regions, and impacted industries from your description.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96401" y="2220039"/>
            <a:ext cx="19716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96401" y="2532340"/>
            <a:ext cx="6467237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1" name="Text 9"/>
          <p:cNvSpPr/>
          <p:nvPr/>
        </p:nvSpPr>
        <p:spPr>
          <a:xfrm>
            <a:off x="7396401" y="2676644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Agent Generation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96401" y="3063954"/>
            <a:ext cx="6467237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agents created for relevant companies — ExxonMobil for Texas hurricanes, PG&amp;E for California wildfires.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66763" y="3949541"/>
            <a:ext cx="19716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66763" y="4261842"/>
            <a:ext cx="6467237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766763" y="4406146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Knowledge Graph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6763" y="4793456"/>
            <a:ext cx="6467237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Dependency network built: who supplies, insures, and powers whom.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396401" y="3949541"/>
            <a:ext cx="19716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396401" y="4261842"/>
            <a:ext cx="6467237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96401" y="4406146"/>
            <a:ext cx="257913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Cascade Simulation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96401" y="4793456"/>
            <a:ext cx="6467237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Round 0: direct damage. Rounds 1–3: agents reason about losses via Graph RAG.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66763" y="5679043"/>
            <a:ext cx="19716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66763" y="5991344"/>
            <a:ext cx="6467237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23" name="Text 21"/>
          <p:cNvSpPr/>
          <p:nvPr/>
        </p:nvSpPr>
        <p:spPr>
          <a:xfrm>
            <a:off x="766763" y="6135648"/>
            <a:ext cx="252483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Narrative &amp; Analysis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6763" y="6522958"/>
            <a:ext cx="6467237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writes an executive briefing, quantifies losses, and shows amplification effects.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396401" y="5679043"/>
            <a:ext cx="19716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396401" y="5991344"/>
            <a:ext cx="6467237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96401" y="6135648"/>
            <a:ext cx="246947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96401" y="6522958"/>
            <a:ext cx="6467237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Portfolio advice: rebalance, hedge, diversify, or exit based on simulation results.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244" y="334923"/>
            <a:ext cx="862608" cy="179070"/>
          </a:xfrm>
          <a:prstGeom prst="roundRect">
            <a:avLst>
              <a:gd name="adj" fmla="val 7754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495657" y="369570"/>
            <a:ext cx="72378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26244" y="536258"/>
            <a:ext cx="823638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Full-Stack Platform with AI-Powered Simulation Engine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6244" y="4091107"/>
            <a:ext cx="6747867" cy="274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platform is engineered for performance, resilience, and real-time interactivity — from the Next.js frontend through the LLM-powered cascade engine. Every layer is designed to handle complex, multi-agent simulations at scale.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3909" y="1023223"/>
            <a:ext cx="6410444" cy="641044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909" y="1023223"/>
            <a:ext cx="6410444" cy="64104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6244" y="7559397"/>
            <a:ext cx="4555331" cy="602456"/>
          </a:xfrm>
          <a:prstGeom prst="roundRect">
            <a:avLst>
              <a:gd name="adj" fmla="val 2881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57093" y="7690247"/>
            <a:ext cx="1361242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57093" y="7893725"/>
            <a:ext cx="4293632" cy="137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Next.js 15 · TypeScript · Tailwind CSS · Canvas API · Framer Motion · Zustand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037415" y="7559397"/>
            <a:ext cx="4555450" cy="602456"/>
          </a:xfrm>
          <a:prstGeom prst="roundRect">
            <a:avLst>
              <a:gd name="adj" fmla="val 2881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68265" y="7690247"/>
            <a:ext cx="1361242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68265" y="7893725"/>
            <a:ext cx="4293751" cy="137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FastAPI · Python 3.11+ · PostgreSQL · Redis · NetworkX · Pydantic · RESTful API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9648706" y="7559397"/>
            <a:ext cx="4555331" cy="602456"/>
          </a:xfrm>
          <a:prstGeom prst="roundRect">
            <a:avLst>
              <a:gd name="adj" fmla="val 2881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779556" y="7690247"/>
            <a:ext cx="1361242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Engine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779556" y="7893725"/>
            <a:ext cx="4293632" cy="137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Gemini / OpenAI LLM · Graph RAG · Per-agent reasoning · Rule-based fallback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0208" y="726043"/>
            <a:ext cx="1475661" cy="209907"/>
          </a:xfrm>
          <a:prstGeom prst="roundRect">
            <a:avLst>
              <a:gd name="adj" fmla="val 7541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789265" y="765572"/>
            <a:ext cx="1317546" cy="13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AGENTS &amp; GRAPH RAG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0208" y="965002"/>
            <a:ext cx="5357574" cy="387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Every Company Thinks for Itself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0208" y="1461849"/>
            <a:ext cx="13209984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Inspired by MiroFish — each company becomes an autonomous AI agent reasoning about its situation using its neighborhood in the dependency graph.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0208" y="1779746"/>
            <a:ext cx="155174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Agent Anatomy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0208" y="2055257"/>
            <a:ext cx="3185755" cy="724138"/>
          </a:xfrm>
          <a:prstGeom prst="roundRect">
            <a:avLst>
              <a:gd name="adj" fmla="val 10102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68" y="2055257"/>
            <a:ext cx="60960" cy="724138"/>
          </a:xfrm>
          <a:prstGeom prst="roundRect">
            <a:avLst>
              <a:gd name="adj" fmla="val 32457"/>
            </a:avLst>
          </a:prstGeom>
          <a:solidFill>
            <a:srgbClr val="8061FF"/>
          </a:solidFill>
          <a:ln/>
        </p:spPr>
      </p:sp>
      <p:sp>
        <p:nvSpPr>
          <p:cNvPr id="9" name="Text 7"/>
          <p:cNvSpPr/>
          <p:nvPr/>
        </p:nvSpPr>
        <p:spPr>
          <a:xfrm>
            <a:off x="902970" y="2202299"/>
            <a:ext cx="155174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2970" y="2468761"/>
            <a:ext cx="2845951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Name, sector, region,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68591" y="2055257"/>
            <a:ext cx="3185755" cy="724138"/>
          </a:xfrm>
          <a:prstGeom prst="roundRect">
            <a:avLst>
              <a:gd name="adj" fmla="val 10102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3351" y="2055257"/>
            <a:ext cx="60960" cy="724138"/>
          </a:xfrm>
          <a:prstGeom prst="roundRect">
            <a:avLst>
              <a:gd name="adj" fmla="val 32457"/>
            </a:avLst>
          </a:prstGeom>
          <a:solidFill>
            <a:srgbClr val="8061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61353" y="2202299"/>
            <a:ext cx="155174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1353" y="2468761"/>
            <a:ext cx="2845951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Market value, carbon intensity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0208" y="2852023"/>
            <a:ext cx="3185755" cy="724138"/>
          </a:xfrm>
          <a:prstGeom prst="roundRect">
            <a:avLst>
              <a:gd name="adj" fmla="val 10102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68" y="2852023"/>
            <a:ext cx="60960" cy="724138"/>
          </a:xfrm>
          <a:prstGeom prst="roundRect">
            <a:avLst>
              <a:gd name="adj" fmla="val 32457"/>
            </a:avLst>
          </a:prstGeom>
          <a:solidFill>
            <a:srgbClr val="8061FF"/>
          </a:solidFill>
          <a:ln/>
        </p:spPr>
      </p:sp>
      <p:sp>
        <p:nvSpPr>
          <p:cNvPr id="17" name="Text 15"/>
          <p:cNvSpPr/>
          <p:nvPr/>
        </p:nvSpPr>
        <p:spPr>
          <a:xfrm>
            <a:off x="902970" y="2999065"/>
            <a:ext cx="155174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2970" y="3265527"/>
            <a:ext cx="2845951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Supply chain, grid, insurance links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68591" y="2852023"/>
            <a:ext cx="3185755" cy="724138"/>
          </a:xfrm>
          <a:prstGeom prst="roundRect">
            <a:avLst>
              <a:gd name="adj" fmla="val 10102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53351" y="2852023"/>
            <a:ext cx="60960" cy="724138"/>
          </a:xfrm>
          <a:prstGeom prst="roundRect">
            <a:avLst>
              <a:gd name="adj" fmla="val 32457"/>
            </a:avLst>
          </a:prstGeom>
          <a:solidFill>
            <a:srgbClr val="806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61353" y="2999065"/>
            <a:ext cx="155174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61353" y="3265527"/>
            <a:ext cx="2845951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LLM-powered or rule-based logic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0208" y="3648789"/>
            <a:ext cx="3185755" cy="724138"/>
          </a:xfrm>
          <a:prstGeom prst="roundRect">
            <a:avLst>
              <a:gd name="adj" fmla="val 10102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68" y="3648789"/>
            <a:ext cx="60960" cy="724138"/>
          </a:xfrm>
          <a:prstGeom prst="roundRect">
            <a:avLst>
              <a:gd name="adj" fmla="val 32457"/>
            </a:avLst>
          </a:prstGeom>
          <a:solidFill>
            <a:srgbClr val="8061FF"/>
          </a:solidFill>
          <a:ln/>
        </p:spPr>
      </p:sp>
      <p:sp>
        <p:nvSpPr>
          <p:cNvPr id="25" name="Text 23"/>
          <p:cNvSpPr/>
          <p:nvPr/>
        </p:nvSpPr>
        <p:spPr>
          <a:xfrm>
            <a:off x="902970" y="3795832"/>
            <a:ext cx="155174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Graph Context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2970" y="4062293"/>
            <a:ext cx="2845951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2-hop neighborhood + damage state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68591" y="3648789"/>
            <a:ext cx="3185755" cy="724138"/>
          </a:xfrm>
          <a:prstGeom prst="roundRect">
            <a:avLst>
              <a:gd name="adj" fmla="val 10102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53351" y="3648789"/>
            <a:ext cx="60960" cy="724138"/>
          </a:xfrm>
          <a:prstGeom prst="roundRect">
            <a:avLst>
              <a:gd name="adj" fmla="val 32457"/>
            </a:avLst>
          </a:prstGeom>
          <a:solidFill>
            <a:srgbClr val="8061FF"/>
          </a:solidFill>
          <a:ln/>
        </p:spPr>
      </p:sp>
      <p:sp>
        <p:nvSpPr>
          <p:cNvPr id="29" name="Text 27"/>
          <p:cNvSpPr/>
          <p:nvPr/>
        </p:nvSpPr>
        <p:spPr>
          <a:xfrm>
            <a:off x="4161353" y="3795832"/>
            <a:ext cx="155174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Social Feed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61353" y="4062293"/>
            <a:ext cx="2845951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Other agents' reactions this round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83673" y="1779746"/>
            <a:ext cx="1639133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Graph RAG Pattern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83673" y="2055257"/>
            <a:ext cx="131802" cy="164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83673" y="2263973"/>
            <a:ext cx="6444139" cy="1524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34" name="Text 32"/>
          <p:cNvSpPr/>
          <p:nvPr/>
        </p:nvSpPr>
        <p:spPr>
          <a:xfrm>
            <a:off x="7483673" y="2360295"/>
            <a:ext cx="200382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Build Knowledge Graph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83673" y="2626757"/>
            <a:ext cx="6444139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Companies become nodes; dependencies become edges.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83673" y="2961799"/>
            <a:ext cx="131802" cy="164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83673" y="3170515"/>
            <a:ext cx="6444139" cy="1524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38" name="Text 36"/>
          <p:cNvSpPr/>
          <p:nvPr/>
        </p:nvSpPr>
        <p:spPr>
          <a:xfrm>
            <a:off x="7483673" y="3266837"/>
            <a:ext cx="2031921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Walk the Neighborhood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83673" y="3533299"/>
            <a:ext cx="6444139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Retrieve 2-hop neighbors and damage state per agent.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83673" y="3868341"/>
            <a:ext cx="131802" cy="164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83673" y="4077057"/>
            <a:ext cx="6444139" cy="1524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42" name="Text 40"/>
          <p:cNvSpPr/>
          <p:nvPr/>
        </p:nvSpPr>
        <p:spPr>
          <a:xfrm>
            <a:off x="7483673" y="4173379"/>
            <a:ext cx="1792724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Augment the Prompt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83673" y="4439841"/>
            <a:ext cx="6444139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Inject graph context into the LLM system prompt.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83673" y="4774883"/>
            <a:ext cx="131802" cy="164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83673" y="4983599"/>
            <a:ext cx="6444139" cy="1524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46" name="Text 44"/>
          <p:cNvSpPr/>
          <p:nvPr/>
        </p:nvSpPr>
        <p:spPr>
          <a:xfrm>
            <a:off x="7483673" y="5079921"/>
            <a:ext cx="155174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Agent Reasons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483673" y="5346383"/>
            <a:ext cx="6444139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LLM sees damaged dependencies and estimates its own loss.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83673" y="5681424"/>
            <a:ext cx="131802" cy="164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83673" y="5890141"/>
            <a:ext cx="6444139" cy="1524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50" name="Text 48"/>
          <p:cNvSpPr/>
          <p:nvPr/>
        </p:nvSpPr>
        <p:spPr>
          <a:xfrm>
            <a:off x="7483673" y="5986463"/>
            <a:ext cx="1731526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Interactive Cascade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483673" y="6252924"/>
            <a:ext cx="6444139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 A's reaction feeds into Agent B's reasoning.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83673" y="6587966"/>
            <a:ext cx="131802" cy="164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83673" y="6796683"/>
            <a:ext cx="6444139" cy="1524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54" name="Text 52"/>
          <p:cNvSpPr/>
          <p:nvPr/>
        </p:nvSpPr>
        <p:spPr>
          <a:xfrm>
            <a:off x="7483673" y="6893004"/>
            <a:ext cx="1639253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Emergent Behavior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483673" y="7159466"/>
            <a:ext cx="6444139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Complex cascade patterns emerge from simple agent rules.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52" y="681395"/>
            <a:ext cx="2226826" cy="340757"/>
          </a:xfrm>
          <a:prstGeom prst="roundRect">
            <a:avLst>
              <a:gd name="adj" fmla="val 6830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914876" y="739497"/>
            <a:ext cx="1994178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EXAMPLE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8552" y="1084898"/>
            <a:ext cx="12087344" cy="570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"Category 5 Hurricane Hits the Texas Gulf Coast"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8552" y="1890951"/>
            <a:ext cx="4239697" cy="1655564"/>
          </a:xfrm>
          <a:prstGeom prst="roundRect">
            <a:avLst>
              <a:gd name="adj" fmla="val 1757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5365" y="2107763"/>
            <a:ext cx="309526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Round 0 — Direct Impact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15365" y="2487097"/>
            <a:ext cx="3806071" cy="84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ExxonMobil, CenterPoint Energy, Valero Energy, ERCOT, Southwest Airlines, Camden Property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95292" y="1890951"/>
            <a:ext cx="4239697" cy="1655564"/>
          </a:xfrm>
          <a:prstGeom prst="roundRect">
            <a:avLst>
              <a:gd name="adj" fmla="val 1757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2105" y="2107763"/>
            <a:ext cx="302680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Round 1 — First Cascade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412105" y="2487097"/>
            <a:ext cx="3806071" cy="56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Phillips 66, Chubb Insurance, BNSF Railway, LyondellBasell, Dell Technologies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592032" y="1890951"/>
            <a:ext cx="4239697" cy="1655564"/>
          </a:xfrm>
          <a:prstGeom prst="roundRect">
            <a:avLst>
              <a:gd name="adj" fmla="val 1757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08845" y="2107763"/>
            <a:ext cx="3333631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Round 2+ — Deep Cascade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08845" y="2487097"/>
            <a:ext cx="3806071" cy="56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FedEx, JPMorgan, Tyson Foods, Tenet Healthcare — losses amplify 2–5×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8552" y="3782139"/>
            <a:ext cx="2309336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Simulation Results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279922" y="4399836"/>
            <a:ext cx="5455563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$67.5M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2866906" y="5254466"/>
            <a:ext cx="2281714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Direct Loss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894677" y="4399836"/>
            <a:ext cx="5455682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$142.3M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481661" y="5254466"/>
            <a:ext cx="2281714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Cascade Loss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279922" y="5950744"/>
            <a:ext cx="5455563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$209.8M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2866906" y="6805374"/>
            <a:ext cx="2281714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Total Loss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894677" y="5950744"/>
            <a:ext cx="5455682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211%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481661" y="6805374"/>
            <a:ext cx="2281714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Amplification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8552" y="7267218"/>
            <a:ext cx="13033296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15 companies affected.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Cascade effects account for 68% of total losses — critical systemic exposure data.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6758" y="1417558"/>
            <a:ext cx="1461968" cy="279559"/>
          </a:xfrm>
          <a:prstGeom prst="roundRect">
            <a:avLst>
              <a:gd name="adj" fmla="val 7131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826413" y="1467326"/>
            <a:ext cx="1262658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26758" y="1743194"/>
            <a:ext cx="6901339" cy="488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Premium Interactive Dashboard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26758" y="2404586"/>
            <a:ext cx="769048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Dark-themed, responsive interface with real-time simulation feedback and rich visualizations.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26758" y="2759273"/>
            <a:ext cx="7690485" cy="1095494"/>
          </a:xfrm>
          <a:prstGeom prst="roundRect">
            <a:avLst>
              <a:gd name="adj" fmla="val 2275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892850" y="2925366"/>
            <a:ext cx="2327791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Agent Network Graph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2850" y="3238619"/>
            <a:ext cx="735830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Canvas-based force-directed graph. Nodes sized by loss, color-coded by sector. Dashed rings mark portfolio holdings.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758" y="3970020"/>
            <a:ext cx="7690485" cy="870466"/>
          </a:xfrm>
          <a:prstGeom prst="roundRect">
            <a:avLst>
              <a:gd name="adj" fmla="val 2863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892850" y="4136112"/>
            <a:ext cx="1954292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Cascade Timeline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2850" y="4449366"/>
            <a:ext cx="735830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Events grouped by round with source → target loss flows. Animated particles highlight active edges.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6758" y="4955738"/>
            <a:ext cx="7690485" cy="870466"/>
          </a:xfrm>
          <a:prstGeom prst="roundRect">
            <a:avLst>
              <a:gd name="adj" fmla="val 2863"/>
            </a:avLst>
          </a:prstGeom>
          <a:solidFill>
            <a:srgbClr val="2B2952"/>
          </a:solidFill>
          <a:ln/>
        </p:spPr>
      </p:sp>
      <p:sp>
        <p:nvSpPr>
          <p:cNvPr id="14" name="Text 11"/>
          <p:cNvSpPr/>
          <p:nvPr/>
        </p:nvSpPr>
        <p:spPr>
          <a:xfrm>
            <a:off x="892850" y="5121831"/>
            <a:ext cx="2430899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Affected Entities Table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2850" y="5435084"/>
            <a:ext cx="735830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Sortable by loss, sector, region. Portfolio vs. dependency tagging with risk score filtering.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26758" y="5941457"/>
            <a:ext cx="7690485" cy="870466"/>
          </a:xfrm>
          <a:prstGeom prst="roundRect">
            <a:avLst>
              <a:gd name="adj" fmla="val 2863"/>
            </a:avLst>
          </a:prstGeom>
          <a:solidFill>
            <a:srgbClr val="2B2952"/>
          </a:solidFill>
          <a:ln/>
        </p:spPr>
      </p:sp>
      <p:sp>
        <p:nvSpPr>
          <p:cNvPr id="17" name="Text 14"/>
          <p:cNvSpPr/>
          <p:nvPr/>
        </p:nvSpPr>
        <p:spPr>
          <a:xfrm>
            <a:off x="892850" y="6107549"/>
            <a:ext cx="2737604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Recommendations Panel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92850" y="6420803"/>
            <a:ext cx="735830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Categorized actions — rebalance, hedge, exit — with priority levels and affected entities.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77" y="890349"/>
            <a:ext cx="1846897" cy="402074"/>
          </a:xfrm>
          <a:prstGeom prst="roundRect">
            <a:avLst>
              <a:gd name="adj" fmla="val 6567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901898" y="956310"/>
            <a:ext cx="1583055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SMART FEATURES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9977" y="1373267"/>
            <a:ext cx="13090446" cy="1294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Built to Be Resilient, Just Like Your Portfolio Should Be</a:t>
            </a:r>
            <a:endParaRPr lang="en-US" sz="4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977" y="2970728"/>
            <a:ext cx="439936" cy="439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9977" y="3663434"/>
            <a:ext cx="3865364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Dynamic Agent Generation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9977" y="4108252"/>
            <a:ext cx="641877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Generates relevant companies even outside your portfolio — they're part of the dependency chain affecting your holdings.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1525" y="2970728"/>
            <a:ext cx="439936" cy="4399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41525" y="3663434"/>
            <a:ext cx="3097054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Graceful Degradation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441525" y="4108252"/>
            <a:ext cx="641889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API key? Rule-based fallback runs parsing, cascade math, and narratives. Rate-limited? Auto-switches mid-simulation.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977" y="5188268"/>
            <a:ext cx="439936" cy="4399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9977" y="5880973"/>
            <a:ext cx="4100393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200+ Real Company Registry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769977" y="6325791"/>
            <a:ext cx="641877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Curated companies by sector and US region with realistic market values and dependency profiles.</a:t>
            </a:r>
            <a:endParaRPr lang="en-US" sz="1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1525" y="5188268"/>
            <a:ext cx="439936" cy="4399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41525" y="5880973"/>
            <a:ext cx="4557713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Cascade Amplification Tracking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7441525" y="6325791"/>
            <a:ext cx="6418898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Quantifies how cascade effects multiply losses — a 211% amplification means indirect losses more than double direct damage.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32" y="676394"/>
            <a:ext cx="2331720" cy="362664"/>
          </a:xfrm>
          <a:prstGeom prst="roundRect">
            <a:avLst>
              <a:gd name="adj" fmla="val 6730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737354"/>
            <a:ext cx="2087880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SCENARIOS &amp; USE CASES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0932" y="1108115"/>
            <a:ext cx="13048536" cy="119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Any Climate Event You Can Describe, We Can Simulate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790932" y="2563416"/>
            <a:ext cx="6437828" cy="1117878"/>
          </a:xfrm>
          <a:prstGeom prst="roundRect">
            <a:avLst>
              <a:gd name="adj" fmla="val 2729"/>
            </a:avLst>
          </a:prstGeom>
          <a:solidFill>
            <a:srgbClr val="2B2952"/>
          </a:solidFill>
          <a:ln/>
        </p:spPr>
      </p:sp>
      <p:sp>
        <p:nvSpPr>
          <p:cNvPr id="6" name="Text 4"/>
          <p:cNvSpPr/>
          <p:nvPr/>
        </p:nvSpPr>
        <p:spPr>
          <a:xfrm>
            <a:off x="994291" y="2766774"/>
            <a:ext cx="239279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🌀</a:t>
            </a:r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Hurricane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94291" y="3177064"/>
            <a:ext cx="6031111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Texas Gulf Coast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1520" y="2563416"/>
            <a:ext cx="6437948" cy="1117878"/>
          </a:xfrm>
          <a:prstGeom prst="roundRect">
            <a:avLst>
              <a:gd name="adj" fmla="val 2729"/>
            </a:avLst>
          </a:prstGeom>
          <a:solidFill>
            <a:srgbClr val="2B2952"/>
          </a:solidFill>
          <a:ln/>
        </p:spPr>
      </p:sp>
      <p:sp>
        <p:nvSpPr>
          <p:cNvPr id="9" name="Text 7"/>
          <p:cNvSpPr/>
          <p:nvPr/>
        </p:nvSpPr>
        <p:spPr>
          <a:xfrm>
            <a:off x="7604879" y="2766774"/>
            <a:ext cx="239279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🔥</a:t>
            </a:r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Wildfire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04879" y="3177064"/>
            <a:ext cx="6031230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Energy → Utilities → Transportation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0932" y="3854053"/>
            <a:ext cx="6437828" cy="1117878"/>
          </a:xfrm>
          <a:prstGeom prst="roundRect">
            <a:avLst>
              <a:gd name="adj" fmla="val 2729"/>
            </a:avLst>
          </a:prstGeom>
          <a:solidFill>
            <a:srgbClr val="2B2952"/>
          </a:solidFill>
          <a:ln/>
        </p:spPr>
      </p:sp>
      <p:sp>
        <p:nvSpPr>
          <p:cNvPr id="12" name="Text 10"/>
          <p:cNvSpPr/>
          <p:nvPr/>
        </p:nvSpPr>
        <p:spPr>
          <a:xfrm>
            <a:off x="994291" y="4057412"/>
            <a:ext cx="239279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🌊</a:t>
            </a:r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Flood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994291" y="4467701"/>
            <a:ext cx="6031111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Midwest River Basins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01520" y="3854053"/>
            <a:ext cx="6437948" cy="1117878"/>
          </a:xfrm>
          <a:prstGeom prst="roundRect">
            <a:avLst>
              <a:gd name="adj" fmla="val 2729"/>
            </a:avLst>
          </a:prstGeom>
          <a:solidFill>
            <a:srgbClr val="2B2952"/>
          </a:solidFill>
          <a:ln/>
        </p:spPr>
      </p:sp>
      <p:sp>
        <p:nvSpPr>
          <p:cNvPr id="15" name="Text 13"/>
          <p:cNvSpPr/>
          <p:nvPr/>
        </p:nvSpPr>
        <p:spPr>
          <a:xfrm>
            <a:off x="7604879" y="4057412"/>
            <a:ext cx="239279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🌡️</a:t>
            </a:r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Extreme Heat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604879" y="4467701"/>
            <a:ext cx="6031230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Utilities → Healthcare → Consumer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0932" y="5144691"/>
            <a:ext cx="6437828" cy="1117878"/>
          </a:xfrm>
          <a:prstGeom prst="roundRect">
            <a:avLst>
              <a:gd name="adj" fmla="val 2729"/>
            </a:avLst>
          </a:prstGeom>
          <a:solidFill>
            <a:srgbClr val="2B2952"/>
          </a:solidFill>
          <a:ln/>
        </p:spPr>
      </p:sp>
      <p:sp>
        <p:nvSpPr>
          <p:cNvPr id="18" name="Text 16"/>
          <p:cNvSpPr/>
          <p:nvPr/>
        </p:nvSpPr>
        <p:spPr>
          <a:xfrm>
            <a:off x="994291" y="5348049"/>
            <a:ext cx="239279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💰</a:t>
            </a:r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Carbon Tax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94291" y="5758339"/>
            <a:ext cx="6031111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Energy → Materials → All high-carbon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1520" y="5144691"/>
            <a:ext cx="6437948" cy="1117878"/>
          </a:xfrm>
          <a:prstGeom prst="roundRect">
            <a:avLst>
              <a:gd name="adj" fmla="val 2729"/>
            </a:avLst>
          </a:prstGeom>
          <a:solidFill>
            <a:srgbClr val="2B2952"/>
          </a:solidFill>
          <a:ln/>
        </p:spPr>
      </p:sp>
      <p:sp>
        <p:nvSpPr>
          <p:cNvPr id="21" name="Text 19"/>
          <p:cNvSpPr/>
          <p:nvPr/>
        </p:nvSpPr>
        <p:spPr>
          <a:xfrm>
            <a:off x="7604879" y="5348049"/>
            <a:ext cx="239279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🏜️</a:t>
            </a:r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Drought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604879" y="5758339"/>
            <a:ext cx="6031230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Agriculture → Water → Real Estate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0932" y="6435328"/>
            <a:ext cx="6437828" cy="1117878"/>
          </a:xfrm>
          <a:prstGeom prst="roundRect">
            <a:avLst>
              <a:gd name="adj" fmla="val 2729"/>
            </a:avLst>
          </a:prstGeom>
          <a:solidFill>
            <a:srgbClr val="2B2952"/>
          </a:solidFill>
          <a:ln/>
        </p:spPr>
      </p:sp>
      <p:sp>
        <p:nvSpPr>
          <p:cNvPr id="24" name="Text 22"/>
          <p:cNvSpPr/>
          <p:nvPr/>
        </p:nvSpPr>
        <p:spPr>
          <a:xfrm>
            <a:off x="994291" y="6638687"/>
            <a:ext cx="239279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💻</a:t>
            </a:r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Supply Shock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994291" y="7048976"/>
            <a:ext cx="6031111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Tech → Consumer → Manufacturing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01520" y="6435328"/>
            <a:ext cx="6437948" cy="1117878"/>
          </a:xfrm>
          <a:prstGeom prst="roundRect">
            <a:avLst>
              <a:gd name="adj" fmla="val 2729"/>
            </a:avLst>
          </a:prstGeom>
          <a:solidFill>
            <a:srgbClr val="2B2952"/>
          </a:solidFill>
          <a:ln/>
        </p:spPr>
      </p:sp>
      <p:sp>
        <p:nvSpPr>
          <p:cNvPr id="27" name="Text 25"/>
          <p:cNvSpPr/>
          <p:nvPr/>
        </p:nvSpPr>
        <p:spPr>
          <a:xfrm>
            <a:off x="7604879" y="6638687"/>
            <a:ext cx="239279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❄️</a:t>
            </a:r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Winter Storm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604879" y="7048976"/>
            <a:ext cx="6031230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Northeast US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2026-04-04T19:33:34Z</dcterms:created>
  <dcterms:modified xsi:type="dcterms:W3CDTF">2026-04-04T19:33:34Z</dcterms:modified>
</cp:coreProperties>
</file>